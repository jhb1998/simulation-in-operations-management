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6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A2A"/>
                    </a:solidFill>
                    <a:latin typeface="Calibri"/>
                  </a:defRPr>
                </a:pPr>
                <a:endParaRPr lang="en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C: packaging</c:v>
                </c:pt>
                <c:pt idx="1">
                  <c:v>AC</c:v>
                </c:pt>
                <c:pt idx="2">
                  <c:v>AB</c:v>
                </c:pt>
                <c:pt idx="3">
                  <c:v>A: dryer</c:v>
                </c:pt>
                <c:pt idx="4">
                  <c:v>B: clean</c:v>
                </c:pt>
                <c:pt idx="5">
                  <c:v>BC</c:v>
                </c:pt>
                <c:pt idx="6">
                  <c:v>ABC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454</c:v>
                </c:pt>
                <c:pt idx="1">
                  <c:v>-277</c:v>
                </c:pt>
                <c:pt idx="2">
                  <c:v>-253</c:v>
                </c:pt>
                <c:pt idx="3">
                  <c:v>-166</c:v>
                </c:pt>
                <c:pt idx="4">
                  <c:v>158</c:v>
                </c:pt>
                <c:pt idx="5">
                  <c:v>-131</c:v>
                </c:pt>
                <c:pt idx="6">
                  <c:v>-32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E-304C-A33F-D42F59708E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Dryer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+1 dryer</c:v>
                </c:pt>
                <c:pt idx="2">
                  <c:v>+dryer +clean</c:v>
                </c:pt>
                <c:pt idx="3">
                  <c:v>Best combo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94.3</c:v>
                </c:pt>
                <c:pt idx="1">
                  <c:v>78.5</c:v>
                </c:pt>
                <c:pt idx="2">
                  <c:v>61.1</c:v>
                </c:pt>
                <c:pt idx="3">
                  <c:v>78.2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6C-9040-9AC8-C2012B61A3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Cleaning team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+1 dryer</c:v>
                </c:pt>
                <c:pt idx="2">
                  <c:v>+dryer +clean</c:v>
                </c:pt>
                <c:pt idx="3">
                  <c:v>Best combo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79.599999999999994</c:v>
                </c:pt>
                <c:pt idx="1">
                  <c:v>95</c:v>
                </c:pt>
                <c:pt idx="2">
                  <c:v>93</c:v>
                </c:pt>
                <c:pt idx="3">
                  <c:v>92.8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6C-9040-9AC8-C2012B61A3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Packaging</c:v>
                </c:pt>
              </c:strCache>
            </c:strRef>
          </c:tx>
          <c:spPr>
            <a:solidFill>
              <a:srgbClr val="9FE1C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+1 dryer</c:v>
                </c:pt>
                <c:pt idx="2">
                  <c:v>+dryer +clean</c:v>
                </c:pt>
                <c:pt idx="3">
                  <c:v>Best combo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52.4</c:v>
                </c:pt>
                <c:pt idx="1">
                  <c:v>72.2</c:v>
                </c:pt>
                <c:pt idx="2">
                  <c:v>93</c:v>
                </c:pt>
                <c:pt idx="3">
                  <c:v>76.7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6C-9040-9AC8-C2012B61A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E2A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2A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0E2A2A"/>
                </a:solidFill>
                <a:latin typeface="Calibri"/>
              </a:rPr>
              <a:t>On-time delivery vs order-book size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delivery (%)</c:v>
                </c:pt>
              </c:strCache>
            </c:strRef>
          </c:tx>
          <c:spPr>
            <a:ln w="50800" cap="flat">
              <a:solidFill>
                <a:srgbClr val="A32D2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A32D2D"/>
              </a:solidFill>
              <a:ln w="9525" cap="flat">
                <a:solidFill>
                  <a:srgbClr val="A32D2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A32D2D"/>
                    </a:solidFill>
                    <a:latin typeface="Calibri"/>
                  </a:defRPr>
                </a:pPr>
                <a:endParaRPr lang="en-DK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50 (today)</c:v>
                </c:pt>
                <c:pt idx="1">
                  <c:v>75</c:v>
                </c:pt>
                <c:pt idx="2">
                  <c:v>100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71</c:v>
                </c:pt>
                <c:pt idx="2">
                  <c:v>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F-0543-8BA4-4670DEDD8CF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E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9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1 — TITLE ===  [target 0:00–0:25]
Hi, my name is Jacob Brams.  [pause]
This is our discrete-event simulation of the FermaCore tablet production line, which we built in AnyLogic.
FermaCore is a pharmaceutical line that mixes batch-type operations up front with rate-based packaging at the end.  [pause]
The reason this matters: management's 2030 plan wants to raise output — but they want to do it within the equipment they already have, before committing to anything with a long lead time.
So this study answers two questions. First: where is the bottleneck on the line today? And second: can the line absorb rising 2030 demand without new capacity?  [breathe]
I'll take you through the findings.
[ADVANCE to slide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2 — KPIs / BASELINE ===  [target 0:25–0:55]
To judge the line and compare improvements, we track five KPIs, and we framed each one using the SMART criteria.  [pause]
Four are primary. Throughput, in bottles, is the output. Station utilisation tells us which resource is the binding constraint. Flow time and WIP measure congestion. And on-time delivery measures schedule adherence.
The fifth — yield — is a secondary efficiency metric.  [breathe]
The numbers on screen are the baseline values. Just over sixty thousand bottles per run. The dryer running hottest, at ninety-four point three percent. Mean flow time of a hundred and seventy-nine hours. Ninety-eight percent on time. And six point two percent scrap.  [pause]
I want you to hold onto that dryer number — ninety-four percent — because it turns out to be the headline of the entire study. Everything that follows is measured against this baseline.
[ADVANCE to slide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5 — EXPERIMENTAL STUDY / DOE ===  [target 2:05–2:40]
Now to the experiments. We first screened the levers, then ran a full two-cubed factorial design on the three capacity stations — dryer, cleaning team, and packaging.  [pause]
We deliberately used a full factorial rather than testing one factor at a time, so that interaction effects between the levers are actually visible.  [breathe]
And here's the result — the chart on the left. Not a single effect is statistically significant. The largest is a packaging effect of plus four hundred and fifty-four bottles, but that sits at a t-value of just one point three one, well inside the noise band.  [pause]
The reason is structural, and it's the central insight of the whole study. At a fixed fifty-batch plan, output is set by the number of batches times the per-batch yield — not by how much machine capacity you add. So adding capacity simply cannot raise output here.  [pause]
And notice: a one-factor-at-a-time test would have missed this completely — it might even have misread random scatter between two runs as a real improvement.
[ADVANCE to slide 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6 — BOTTLENECK SHIFT ===  [target 2:40–3:15]
This chart shows where the constraint actually sits as we add capacity.  [pause]
At baseline, on the far left, the dryer is the tall bar — ninety-four percent. Now add one dryer. Drying drops to seventy-nine percent — relieved. But watch the orange bar: the cleaning team jumps up to ninety-five percent.  [breathe]
Why? Because each dryer carries a two-hour clean, and all the cleaning is done by one shared cleaning team. So relieving the dryer just loads up the team.
Add a cleaning-team member as well, and the load simply spreads onto packaging instead.  [pause]
The constraint keeps moving — but throughput never follows. It stays right around sixty thousand five hundred bottles in every single configuration.  [pause]
That coupling between the dryer and the shared cleaning team is a structural limit. It's something you relocate by adding machines — but you don't remove it that way.
[ADVANCE to slide 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7 — 2030 DEMAND SWEEP ===  [target 3:15–3:50]
So that's today's order book. The 2030 question is about volume. We grew the order book itself — from fifty batches, to seventy-five, to a hundred — holding the product mix fixed, so only the volume changes.  [pause]
First, the good news. The line does produce the extra volume. Bottles shipped roughly double — from sixty thousand up to a hundred and twenty-three thousand.  [breathe]
Now the bad news, and it's the red line on the chart. As volume rises, the single dryer saturates. Mean flow time roughly doubles — from a hundred and seventy-nine hours to three hundred and thirty-eight. And on-time delivery collapses — from a hundred percent, down to seventy-one, and then to just fifty-four percent.  [pause]
And here's the hard part: adding capacity barely helps, because of that same dryer-and-clean coupling we just saw.  [pause]
So at current capacity, the line can only meet 2030 demand by letting its service fall apart. The real fix isn't another machine — it's decoupling the dryer clean from the shared team.
[ADVANCE to slide 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 SLIDE 8 — INDUSTRY 4.0 + RECOMMENDATION ===  [target 3:50–4:30]
So if capacity doesn't raise output — what does?  [pause]
One thing, and one thing only: Industry four point zero. Predictive maintenance at the tablet press. Sensors monitor press force and fill depth and catch the drift before it scraps tablets — so a developing fault gets corrected before it ruins material, instead of after.  [breathe]
That cuts press scrap from ten percent down to four. And because output is bounded by yield, raising good tablets per batch is the one intervention that lifts shipped output. A significant plus eight percent — almost five thousand more bottles per run — and it needs only a sensor retrofit. No new line, no long lead time.  [pause]
So our recommendation is twofold.  [pause]
Today: defer the capital expansion, and invest in the press-sensor scrap reduction. It's the only lever that pays off right now, at a fraction of the cost.
And before 2030 volume actually arrives: address the dryer-and-clean coupling directly — because simply buying another dryer just moves the bottleneck onto the cleaning team.  [pause]
Thank you.
[END — total ~4:30, leaves ~30s buffer for the live AnyLogic demo]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discrete-event simulation study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FermaCore Tablet Line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bottleneck — and can the line meet 2030 demand within its existing capacity?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(s224927)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 · Manufacturing · 42417 Simulation in Operations Management · June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S.M.A.R.T. KPIs anchor the whole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60,494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 / run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(throughput)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" name="Text 6"/>
          <p:cNvSpPr/>
          <p:nvPr/>
        </p:nvSpPr>
        <p:spPr>
          <a:xfrm>
            <a:off x="297180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 utilisation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(bottleneck)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1" name="Text 9"/>
          <p:cNvSpPr/>
          <p:nvPr/>
        </p:nvSpPr>
        <p:spPr>
          <a:xfrm>
            <a:off x="521208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 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4" name="Text 12"/>
          <p:cNvSpPr/>
          <p:nvPr/>
        </p:nvSpPr>
        <p:spPr>
          <a:xfrm>
            <a:off x="745236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182880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7" name="Text 15"/>
          <p:cNvSpPr/>
          <p:nvPr/>
        </p:nvSpPr>
        <p:spPr>
          <a:xfrm>
            <a:off x="9692640" y="19933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926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(yield)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primary KPIs </a:t>
            </a:r>
            <a:r>
              <a:rPr lang="en-US" sz="16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output, the binding constraint, congestion and schedule adherence; </a:t>
            </a:r>
            <a:r>
              <a:rPr lang="en-US" sz="16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secondary KPI </a:t>
            </a:r>
            <a:r>
              <a:rPr lang="en-US" sz="16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material efficiency. Every metric is measured directly from the model each run, so improvement scenarios are compared on the same footing.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baseline values — the reference the rest of the study moves against.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capacity lever moves throughput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2³ factorial effects on weekly throughput (bottles) — none is significant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240280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24028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0E2A2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4"/>
          <p:cNvSpPr/>
          <p:nvPr/>
        </p:nvSpPr>
        <p:spPr>
          <a:xfrm>
            <a:off x="768096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80960" y="28803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fixed by </a:t>
            </a: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× per-batch yield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by station capacity.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38862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effect is +454 bottles at </a:t>
            </a:r>
            <a:r>
              <a:rPr lang="en-US" sz="14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1.31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inside the noise band. A single-lever (OFAT) test would have hidden this.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dryer just relocates the constraint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19456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" name="Text 3"/>
          <p:cNvSpPr/>
          <p:nvPr/>
        </p:nvSpPr>
        <p:spPr>
          <a:xfrm>
            <a:off x="89154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15400" y="27889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binds at 94%. </a:t>
            </a:r>
            <a:r>
              <a:rPr lang="en-US" sz="13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2nd dryer drops it to 79% - but its 2-hour clean shoves the </a:t>
            </a: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cleaning team to 95%.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15400" y="4023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never follows — it holds at  approx. 60,500.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demand sweep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scales — but service collapses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6596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order book grows (batches →)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2331720"/>
            <a:ext cx="5532120" cy="713232"/>
          </a:xfrm>
          <a:prstGeom prst="roundRect">
            <a:avLst>
              <a:gd name="adj" fmla="val 641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4"/>
          <p:cNvSpPr/>
          <p:nvPr/>
        </p:nvSpPr>
        <p:spPr>
          <a:xfrm>
            <a:off x="6172200" y="2496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 shipped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32520" y="2496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60,494  →  </a:t>
            </a: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123,496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3118104"/>
            <a:ext cx="5532120" cy="713232"/>
          </a:xfrm>
          <a:prstGeom prst="roundRect">
            <a:avLst>
              <a:gd name="adj" fmla="val 641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" name="Text 7"/>
          <p:cNvSpPr/>
          <p:nvPr/>
        </p:nvSpPr>
        <p:spPr>
          <a:xfrm>
            <a:off x="6172200" y="32826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 utilisation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32520" y="32826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  →  </a:t>
            </a: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9320" y="3904488"/>
            <a:ext cx="5532120" cy="713232"/>
          </a:xfrm>
          <a:prstGeom prst="roundRect">
            <a:avLst>
              <a:gd name="adj" fmla="val 641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" name="Text 10"/>
          <p:cNvSpPr/>
          <p:nvPr/>
        </p:nvSpPr>
        <p:spPr>
          <a:xfrm>
            <a:off x="617220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40690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h  →  </a:t>
            </a: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4690872"/>
            <a:ext cx="5532120" cy="713232"/>
          </a:xfrm>
          <a:prstGeom prst="roundRect">
            <a:avLst>
              <a:gd name="adj" fmla="val 641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6" name="Text 13"/>
          <p:cNvSpPr/>
          <p:nvPr/>
        </p:nvSpPr>
        <p:spPr>
          <a:xfrm>
            <a:off x="6172200" y="4855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732520" y="4855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→  </a:t>
            </a: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PRODUCES the volume — but lead time doubles and on-time delivery falls to 54%. The single dryer saturates.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42416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lever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4.0 is the only lever that lifts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+4,842 bottles / run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[3,543, 6,141]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at the press: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catch force / fill-depth drift before it scraps tablets, cutting press scrap from 10% to 4%.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30632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output is bounded by yield, raising good tablets per batch is the ONE thing that raises shipped output —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needs only a sensor retrofit, no added line capacity.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Today: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the line capital expansion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 in the press-sensor scrap reduction.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Before 2030: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the dryer clean from the shared team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dryer alone only moves the bottleneck.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Brams · s224927 · 42417 FermaCore · 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8A7C73-5EF6-864C-8E1E-E3C5B977F34C}">
  <we:reference id="f5f369e5-aa35-49d7-ad7b-638152ddb008" version="1.0.0.1" store="EXCatalog" storeType="EXCatalog"/>
  <we:alternateReferences>
    <we:reference id="WA200010001" version="1.0.0.1" store="en-GB" storeType="OMEX"/>
  </we:alternateReferences>
  <we:properties>
    <we:property name="claude.fileId" value="&quot;6aee3236-3c6c-482b-8568-1920a19436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1796</Words>
  <Application>Microsoft Macintosh PowerPoint</Application>
  <PresentationFormat>Widescreen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FermaCore Tablet Line — DES Study</dc:title>
  <dc:subject>PptxGenJS Presentation</dc:subject>
  <dc:creator>Jacob Brams (s224927)</dc:creator>
  <cp:lastModifiedBy>Jacob Høberg Brams</cp:lastModifiedBy>
  <cp:revision>2</cp:revision>
  <dcterms:created xsi:type="dcterms:W3CDTF">2026-06-26T08:28:18Z</dcterms:created>
  <dcterms:modified xsi:type="dcterms:W3CDTF">2026-06-26T09:47:15Z</dcterms:modified>
</cp:coreProperties>
</file>